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Algoritmo Genetico no Diagnostico de Cancer de Mama em Mulheres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 Challenge Fase 2 | Machine Learning, otimizacao genetica e explicabilidade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e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Sistema de apoio ao diagnostico com foco na reducao de falsos negativos.</a:t>
            </a:r>
          </a:p>
          <a:p>
            <a:pPr>
              <a:defRPr sz="2200"/>
            </a:pPr>
            <a:r>
              <a:t>Comparacao entre multiplos modelos baseline e otimizacao da familia vencedora pelo fitness.</a:t>
            </a:r>
          </a:p>
          <a:p>
            <a:pPr>
              <a:defRPr sz="2200"/>
            </a:pPr>
            <a:r>
              <a:t>Explicabilidade em linguagem natural voltada ao contexto profissional.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Utilizado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Breast Cancer Wisconsin Diagnostic.</a:t>
            </a:r>
          </a:p>
          <a:p>
            <a:pPr>
              <a:defRPr sz="2200"/>
            </a:pPr>
            <a:r>
              <a:t>569 amostras em um problema de classificacao binaria.</a:t>
            </a:r>
          </a:p>
          <a:p>
            <a:pPr>
              <a:defRPr sz="2200"/>
            </a:pPr>
            <a:r>
              <a:t>Classe positiva ajustada para malignidade.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da Solucao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Separacao entre dominio, interface, API e camada de experimentacao.</a:t>
            </a:r>
          </a:p>
          <a:p>
            <a:pPr>
              <a:defRPr sz="2200"/>
            </a:pPr>
            <a:r>
              <a:t>Entradas principais: pipeline, AG, Streamlit e API.</a:t>
            </a:r>
          </a:p>
          <a:p>
            <a:pPr>
              <a:defRPr sz="2200"/>
            </a:pPr>
            <a:r>
              <a:t>Saidas: JSON, JSONL, graficos, logs e modelo exportado.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Algoritmo Genetico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Genes representando hiperparametros de LogisticRegression.</a:t>
            </a:r>
          </a:p>
          <a:p>
            <a:pPr>
              <a:defRPr sz="2200"/>
            </a:pPr>
            <a:r>
              <a:t>Selecao, crossover, mutacao e elitismo.</a:t>
            </a:r>
          </a:p>
          <a:p>
            <a:pPr>
              <a:defRPr sz="2200"/>
            </a:pPr>
            <a:r>
              <a:t>Fitness: 55% recall, 25% especificidade, 20% F1.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Configuracoes testadas</a:t>
            </a:r>
          </a:p>
          <a:p>
            <a:pPr>
              <a:defRPr sz="1800"/>
            </a:pPr>
            <a:r>
              <a:t>Exp. 1: pop. 6 | 3 geracoes | mut. 0,10</a:t>
            </a:r>
          </a:p>
          <a:p>
            <a:pPr>
              <a:defRPr sz="1800"/>
            </a:pPr>
            <a:r>
              <a:t>Exp. 2: pop. 8 | 4 geracoes | mut. 0,15</a:t>
            </a:r>
          </a:p>
          <a:p>
            <a:pPr>
              <a:defRPr sz="1800"/>
            </a:pPr>
            <a:r>
              <a:t>Exp. 3: pop. 10 | 5 geracoes | mut. 0,20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Camadas adicionais</a:t>
            </a:r>
          </a:p>
          <a:p>
            <a:pPr>
              <a:defRPr sz="1800"/>
            </a:pPr>
            <a:r>
              <a:t>Script dedicado para AG.</a:t>
            </a:r>
          </a:p>
          <a:p>
            <a:pPr>
              <a:defRPr sz="1800"/>
            </a:pPr>
            <a:r>
              <a:t>Geracao automatica de graficos.</a:t>
            </a:r>
          </a:p>
          <a:p>
            <a:pPr>
              <a:defRPr sz="1800"/>
            </a:pPr>
            <a:r>
              <a:t>UI, API, logging, Docker e Terraform.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Comparacao de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Modelos avaliados</a:t>
            </a:r>
          </a:p>
          <a:p>
            <a:pPr>
              <a:defRPr sz="1800"/>
            </a:pPr>
            <a:r>
              <a:t>RandomForestClassifier</a:t>
            </a:r>
          </a:p>
          <a:p>
            <a:pPr>
              <a:defRPr sz="1800"/>
            </a:pPr>
            <a:r>
              <a:t>LogisticRegression</a:t>
            </a:r>
          </a:p>
          <a:p>
            <a:pPr>
              <a:defRPr sz="1800"/>
            </a:pPr>
            <a:r>
              <a:t>DecisionTreeClassifier</a:t>
            </a:r>
          </a:p>
          <a:p>
            <a:pPr>
              <a:defRPr sz="1800"/>
            </a:pPr>
            <a:r>
              <a:t>KNeighborsClassifier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Melhor baseline em teste</a:t>
            </a:r>
          </a:p>
          <a:p>
            <a:pPr>
              <a:defRPr sz="1800"/>
            </a:pPr>
            <a:r>
              <a:t>Modelo: LogisticRegression</a:t>
            </a:r>
          </a:p>
          <a:p>
            <a:pPr>
              <a:defRPr sz="1800"/>
            </a:pPr>
            <a:r>
              <a:t>Recall: 95.24%</a:t>
            </a:r>
          </a:p>
          <a:p>
            <a:pPr>
              <a:defRPr sz="1800"/>
            </a:pPr>
            <a:r>
              <a:t>Especificidade: 98.61%</a:t>
            </a:r>
          </a:p>
          <a:p>
            <a:pPr>
              <a:defRPr sz="1800"/>
            </a:pPr>
            <a:r>
              <a:t>F1-score: 96.39%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de Referencia do 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LogisticRegression base</a:t>
            </a:r>
          </a:p>
          <a:p>
            <a:pPr>
              <a:defRPr sz="1800"/>
            </a:pPr>
            <a:r>
              <a:t>Recall: 95.24%</a:t>
            </a:r>
          </a:p>
          <a:p>
            <a:pPr>
              <a:defRPr sz="1800"/>
            </a:pPr>
            <a:r>
              <a:t>Especificidade: 98.61%</a:t>
            </a:r>
          </a:p>
          <a:p>
            <a:pPr>
              <a:defRPr sz="1800"/>
            </a:pPr>
            <a:r>
              <a:t>F1-score: 96.39%</a:t>
            </a:r>
          </a:p>
          <a:p>
            <a:pPr>
              <a:defRPr sz="1800"/>
            </a:pPr>
            <a:r>
              <a:t>Acuracia: 97.37%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Leitura tecnica</a:t>
            </a:r>
          </a:p>
          <a:p>
            <a:pPr>
              <a:defRPr sz="1800"/>
            </a:pPr>
            <a:r>
              <a:t>A familia de referencia foi escolhida automaticamente pelo fitness.</a:t>
            </a:r>
          </a:p>
          <a:p>
            <a:pPr>
              <a:defRPr sz="1800"/>
            </a:pPr>
            <a:r>
              <a:t>Modelo selecionado: LogisticRegression.</a:t>
            </a:r>
          </a:p>
          <a:p>
            <a:pPr>
              <a:defRPr sz="1800"/>
            </a:pPr>
            <a:r>
              <a:t>A comparacao com outros baselines reforca a coerencia da busca evolutiva.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Melhores Configuracoes do 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Experimento 1</a:t>
            </a:r>
          </a:p>
          <a:p>
            <a:pPr>
              <a:defRPr sz="1800"/>
            </a:pPr>
            <a:r>
              <a:t>classifier__C = 0.1</a:t>
            </a:r>
          </a:p>
          <a:p>
            <a:pPr>
              <a:defRPr sz="1800"/>
            </a:pPr>
            <a:r>
              <a:t>classifier__solver = lbfgs</a:t>
            </a:r>
          </a:p>
          <a:p>
            <a:pPr>
              <a:defRPr sz="1800"/>
            </a:pPr>
            <a:r>
              <a:t>scaler__with_mean = True</a:t>
            </a:r>
          </a:p>
          <a:p>
            <a:pPr>
              <a:defRPr sz="1800"/>
            </a:pPr>
            <a:r>
              <a:t>scaler__with_std =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Experimento 2</a:t>
            </a:r>
          </a:p>
          <a:p>
            <a:pPr>
              <a:defRPr sz="1800"/>
            </a:pPr>
            <a:r>
              <a:t>classifier__C = 0.1</a:t>
            </a:r>
          </a:p>
          <a:p>
            <a:pPr>
              <a:defRPr sz="1800"/>
            </a:pPr>
            <a:r>
              <a:t>classifier__solver = lbfgs</a:t>
            </a:r>
          </a:p>
          <a:p>
            <a:pPr>
              <a:defRPr sz="1800"/>
            </a:pPr>
            <a:r>
              <a:t>scaler__with_mean = True</a:t>
            </a:r>
          </a:p>
          <a:p>
            <a:pPr>
              <a:defRPr sz="1800"/>
            </a:pPr>
            <a:r>
              <a:t>scaler__with_std = True</a:t>
            </a:r>
          </a:p>
          <a:p>
            <a:pPr>
              <a:defRPr sz="1800"/>
            </a:pPr>
            <a:r>
              <a:t>F1 teste = 98.80%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Hiperparametros Otimizados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Experimento 2</a:t>
            </a:r>
          </a:p>
          <a:p>
            <a:pPr>
              <a:defRPr sz="1800"/>
            </a:pPr>
            <a:r>
              <a:t>classifier__C = 0.1</a:t>
            </a:r>
          </a:p>
          <a:p>
            <a:pPr>
              <a:defRPr sz="1800"/>
            </a:pPr>
            <a:r>
              <a:t>classifier__solver = lbfgs</a:t>
            </a:r>
          </a:p>
          <a:p>
            <a:pPr>
              <a:defRPr sz="1800"/>
            </a:pPr>
            <a:r>
              <a:t>scaler__with_mean = True</a:t>
            </a:r>
          </a:p>
          <a:p>
            <a:pPr>
              <a:defRPr sz="1800"/>
            </a:pPr>
            <a:r>
              <a:t>scaler__with_std =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8016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Leitura tecnica</a:t>
            </a:r>
          </a:p>
          <a:p>
            <a:pPr>
              <a:defRPr sz="1800"/>
            </a:pPr>
            <a:r>
              <a:t>Melhor equilibrio no conjunto de teste.</a:t>
            </a:r>
          </a:p>
          <a:p>
            <a:pPr>
              <a:defRPr sz="1800"/>
            </a:pPr>
            <a:r>
              <a:t>Recall = 97.62%</a:t>
            </a:r>
          </a:p>
          <a:p>
            <a:pPr>
              <a:defRPr sz="1800"/>
            </a:pPr>
            <a:r>
              <a:t>Especificidade = 100.00%</a:t>
            </a:r>
          </a:p>
          <a:p>
            <a:pPr>
              <a:defRPr sz="1800"/>
            </a:pPr>
            <a:r>
              <a:t>F1-score = 98.80%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Comparacao Baseline x AG</a:t>
            </a:r>
          </a:p>
        </p:txBody>
      </p:sp>
      <p:pic>
        <p:nvPicPr>
          <p:cNvPr id="3" name="Picture 2" descr="comparacao_experi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Comparacao de recall, especificidade e F1-score no conjunto de teste.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 dos Experimentos</a:t>
            </a:r>
          </a:p>
        </p:txBody>
      </p:sp>
      <p:pic>
        <p:nvPicPr>
          <p:cNvPr id="3" name="Picture 2" descr="resumo_experi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6085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Fitness final dos tres experimentos geneticos executados.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Convergencia do AG</a:t>
            </a:r>
          </a:p>
        </p:txBody>
      </p:sp>
      <p:pic>
        <p:nvPicPr>
          <p:cNvPr id="3" name="Picture 2" descr="convergencia_ag_experimento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6085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Evolucao do fitness no experimento com melhor equilibrio no conjunto de teste.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Fitness x Hiperparametros</a:t>
            </a:r>
          </a:p>
        </p:txBody>
      </p:sp>
      <p:pic>
        <p:nvPicPr>
          <p:cNvPr id="3" name="Picture 2" descr="comportamento_hiperparamet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Leitura do comportamento do fitness frente aos hiperparametros otimizados.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Leitura Parametros x Fitness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Os tres experimentos convergiram para a mesma configuracao vencedora.</a:t>
            </a:r>
          </a:p>
          <a:p>
            <a:pPr>
              <a:defRPr sz="2200"/>
            </a:pPr>
            <a:r>
              <a:t>O melhor fitness final foi 0,9712.</a:t>
            </a:r>
          </a:p>
          <a:p>
            <a:pPr>
              <a:defRPr sz="2200"/>
            </a:pPr>
            <a:r>
              <a:t>A configuracao vencedora usou C=0.1 e solver=lbfgs.</a:t>
            </a:r>
          </a:p>
          <a:p>
            <a:pPr>
              <a:defRPr sz="2200"/>
            </a:pPr>
            <a:r>
              <a:t>A baixa variacao nos graficos reflete convergencia rapida para a mesma solucao.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Metricas por Geracao</a:t>
            </a:r>
          </a:p>
        </p:txBody>
      </p:sp>
      <p:pic>
        <p:nvPicPr>
          <p:cNvPr id="3" name="Picture 2" descr="metricas_por_geracao_ag_experimento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6085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Evolucao de recall, especificidade e F1 ao longo das geracoes.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e Explicabilidade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Camada desacoplada com suporte a mock e endpoint HTTP.</a:t>
            </a:r>
          </a:p>
          <a:p>
            <a:pPr>
              <a:defRPr sz="2200"/>
            </a:pPr>
            <a:r>
              <a:t>Explicacoes com classificacao, probabilidade, cautela clinica e aviso de nao substituicao da avaliacao medica.</a:t>
            </a:r>
          </a:p>
          <a:p>
            <a:pPr>
              <a:defRPr sz="2200"/>
            </a:pPr>
            <a:r>
              <a:t>Persistencia automatica das respostas em JSONL.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Metricas, graficos e monitoramento.</a:t>
            </a:r>
          </a:p>
          <a:p>
            <a:pPr>
              <a:defRPr sz="2200"/>
            </a:pPr>
            <a:r>
              <a:t>Upload de CSV e simulacao de predicao.</a:t>
            </a:r>
          </a:p>
          <a:p>
            <a:pPr>
              <a:defRPr sz="2200"/>
            </a:pPr>
            <a:r>
              <a:t>Historico da LLM e comparacao entre baselines e familia otimizada.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API, Logging e Nuvem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FastAPI pronta para integracoes futuras.</a:t>
            </a:r>
          </a:p>
          <a:p>
            <a:pPr>
              <a:defRPr sz="2200"/>
            </a:pPr>
            <a:r>
              <a:t>Logging em arquivo e aba de monitoramento.</a:t>
            </a:r>
          </a:p>
          <a:p>
            <a:pPr>
              <a:defRPr sz="2200"/>
            </a:pPr>
            <a:r>
              <a:t>Docker e Terraform inicial para nuvem.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Testes e Preparacao Futura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Cobertura para nucleo, integracao, UI e API.</a:t>
            </a:r>
          </a:p>
          <a:p>
            <a:pPr>
              <a:defRPr sz="2200"/>
            </a:pPr>
            <a:r>
              <a:t>Base modular para workers e servicos desacoplados.</a:t>
            </a:r>
          </a:p>
          <a:p>
            <a:pPr>
              <a:defRPr sz="2200"/>
            </a:pPr>
            <a:r>
              <a:t>Preparacao tecnica para a Fase 3.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comparacao entre quatro baselines ampliou a robustez do estudo.</a:t>
            </a:r>
          </a:p>
          <a:p>
            <a:pPr>
              <a:defRPr sz="2200"/>
            </a:pPr>
            <a:r>
              <a:t>A LogisticRegression foi selecionada como referencia pelo fitness.</a:t>
            </a:r>
          </a:p>
          <a:p>
            <a:pPr>
              <a:defRPr sz="2200"/>
            </a:pPr>
            <a:r>
              <a:t>O AG melhorou o desempenho dessa mesma familia no conjunto de teste.</a:t>
            </a:r>
          </a:p>
          <a:p>
            <a:pPr>
              <a:defRPr sz="2200"/>
            </a:pPr>
            <a:r>
              <a:t>Projeto completo, testado e pronto para evolucao.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